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8288000" cy="10287000"/>
  <p:notesSz cx="10287000" cy="1828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請按這裡移動投影片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請按這裡編輯備註格式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63B71E-BC15-4E85-840A-1E03C525B47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這份簡報講四條主流程：會員、考題分析、運動紀錄、個人儀表板。飲食與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問答另外一份。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B0A758-2076-4C09-92BB-FEF09141BB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先講會員系統，這是所有功能的入口。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AE9B9-DA37-410B-94AE-AC70A24284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使用者未登入時一律被導回這一頁，三個入口都從這裡出發。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522834-F4C0-41DD-BC1C-C780A3BDCC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註冊後帳號狀態是未驗證，點過信中的連結才寫入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email_verified_at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然後回登入頁登入。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45627-1165-4456-BAA9-B1CAA71251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信裡寄的是連結不是新密碼；新密碼由使用者自己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在網頁輸入，原密碼在送出前不會被改動。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47C44C-A555-47CA-975F-D0007CF4BC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第二段是學習模組，也是專題最能展現分析能力的部分。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0296D-B804-43AA-B321-45AD1495C9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只做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Excel/CSV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範本匯入，格式固定最穩；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PDF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與拍照辨識放第二階段。重點是一定要人工確認才入庫。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6C0CA2-63F8-4B1F-9051-E1A4F219A2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摘要一律保留來源段落編號，前端顯示出自第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幾章第幾頁，避免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幻覺無從查證。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5552C2-4449-4646-89B3-A672FBB43F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分配用程式算，只有任務敘述交給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潤飾，結果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才穩定可重現。落後時提供重新排程。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5024E-A02D-4CA4-A258-29B132379F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分析的關鍵是每題都掛在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chapter_id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上，正確率才能按章節算出弱項排序。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09452D-62DF-4D80-8745-2150E7A64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第三段是健身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模組，先做初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始設定才能算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出訓練量是否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達標。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90FABA-3E67-4B0D-B757-977D544EAE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這五項是後面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所有健身建議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的基準值，沒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填完就導回設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定頁。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357F38-645E-48F6-A394-EA436D8F4E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動作總數約等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於每次時長除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以十分鐘，並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確保一週各部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位至少各排一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次。連續缺席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時下次自動降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量。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656A3B-F943-4BC2-AD80-8ACC15DE04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動作可以用內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建動作庫也能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自建；自建的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只有自己看得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到。每次訓練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都記日期與起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訖時間，才能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算週訓練時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數。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7DFBA7-2128-4D23-93E7-7B0AC194B7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最後一段是儀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表板，把學習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與健康資料收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在一頁。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F3CE7-6363-4323-97E6-8F865DAA1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建議加一張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daily_summa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ry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表做每日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結算快取，儀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表板與月曆就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不用每次跑大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JOIN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143D0-2D37-4C09-B69B-809E795882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計畫過期未完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成自動標為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missed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，不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自動刪除；月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底可統計計畫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與實際的達成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率，供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回答這個月照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計畫走了嗎。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707F36-636D-4E2B-944D-5B7AED70A9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請按這裡編輯題名文字格式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zh-TW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1333440" y="2970360"/>
            <a:ext cx="1718280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SMARTLIFE AI </a:t>
            </a:r>
            <a:r>
              <a:rPr lang="zh-TW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／ 流程 </a:t>
            </a:r>
            <a:r>
              <a:rPr lang="en-US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A</a:t>
            </a:r>
            <a:r>
              <a:rPr lang="zh-TW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・</a:t>
            </a:r>
            <a:r>
              <a:rPr lang="en-US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B</a:t>
            </a:r>
            <a:r>
              <a:rPr lang="zh-TW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・</a:t>
            </a:r>
            <a:r>
              <a:rPr lang="en-US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D</a:t>
            </a:r>
            <a:r>
              <a:rPr lang="zh-TW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・</a:t>
            </a:r>
            <a:r>
              <a:rPr lang="en-US" sz="1950" b="0" u="none" spc="351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1333440" y="3627360"/>
            <a:ext cx="17182800" cy="11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74000"/>
              </a:lnSpc>
              <a:tabLst>
                <a:tab algn="l" pos="0"/>
              </a:tabLst>
            </a:pPr>
            <a:r>
              <a:rPr lang="zh-TW" sz="7800" b="1" u="none" spc="-235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使用者流程設計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1333440" y="5040360"/>
            <a:ext cx="6620760" cy="10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8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會員系統、考試準備、運動紀錄、個人儀表板。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1333440" y="6697440"/>
            <a:ext cx="1249200" cy="618840"/>
          </a:xfrm>
          <a:prstGeom prst="rect">
            <a:avLst/>
          </a:prstGeom>
          <a:noFill/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562040" y="6831000"/>
            <a:ext cx="86832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A </a:t>
            </a: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會員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2735640" y="6697440"/>
            <a:ext cx="1744560" cy="618840"/>
          </a:xfrm>
          <a:prstGeom prst="rect">
            <a:avLst/>
          </a:prstGeom>
          <a:noFill/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2964240" y="6831000"/>
            <a:ext cx="13636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B </a:t>
            </a: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考試準備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4633200" y="6697440"/>
            <a:ext cx="1744560" cy="618840"/>
          </a:xfrm>
          <a:prstGeom prst="rect">
            <a:avLst/>
          </a:prstGeom>
          <a:noFill/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861800" y="6831000"/>
            <a:ext cx="13636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D </a:t>
            </a: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運動紀錄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6530400" y="6697440"/>
            <a:ext cx="1496880" cy="618840"/>
          </a:xfrm>
          <a:prstGeom prst="rect">
            <a:avLst/>
          </a:prstGeom>
          <a:noFill/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6759000" y="6831000"/>
            <a:ext cx="111600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E </a:t>
            </a: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IBM Plex Mono"/>
                <a:ea typeface="IBM Plex Mono"/>
              </a:rPr>
              <a:t>儀表板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1333440" y="4138560"/>
            <a:ext cx="1718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pc="451" strike="noStrike">
                <a:solidFill>
                  <a:srgbClr val="418ad1"/>
                </a:solidFill>
                <a:effectLst/>
                <a:uFillTx/>
                <a:latin typeface="IBM Plex Mono"/>
                <a:ea typeface="IBM Plex Mono"/>
              </a:rPr>
              <a:t>流程 </a:t>
            </a:r>
            <a:r>
              <a:rPr lang="en-US" sz="2250" b="0" u="none" spc="451" strike="noStrike">
                <a:solidFill>
                  <a:srgbClr val="418ad1"/>
                </a:solidFill>
                <a:effectLst/>
                <a:uFillTx/>
                <a:latin typeface="IBM Plex Mono"/>
                <a:ea typeface="IBM Plex Mono"/>
              </a:rPr>
              <a:t>A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1333440" y="4824360"/>
            <a:ext cx="1718280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7200" b="1" u="none" spc="-215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會員註冊與登入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1143000" y="857160"/>
            <a:ext cx="176018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A-1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入口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1143000" y="1343160"/>
            <a:ext cx="1760184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登入頁：三個入口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1143000" y="2476440"/>
            <a:ext cx="1760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未登入的所有請求一律導向此頁。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1143000" y="3429000"/>
            <a:ext cx="5155920" cy="600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1504800" y="3867120"/>
            <a:ext cx="48751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50" b="1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①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1504800" y="4724280"/>
            <a:ext cx="48751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31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登入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504800" y="5477040"/>
            <a:ext cx="45648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輸入 </a:t>
            </a:r>
            <a:r>
              <a:rPr lang="en-US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Email </a:t>
            </a: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與密碼；驗證通過發 </a:t>
            </a:r>
            <a:r>
              <a:rPr lang="en-US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JWT</a:t>
            </a: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／</a:t>
            </a:r>
            <a:r>
              <a:rPr lang="en-US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Session</a:t>
            </a: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565680" y="3429000"/>
            <a:ext cx="5155920" cy="600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927840" y="3867120"/>
            <a:ext cx="48751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50" b="1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②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6927840" y="4724280"/>
            <a:ext cx="48751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31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註冊新帳號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6927840" y="5477040"/>
            <a:ext cx="45648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切換到註冊表單，完成後需收 </a:t>
            </a:r>
            <a:r>
              <a:rPr lang="en-US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Email </a:t>
            </a: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確認信。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11988720" y="3429000"/>
            <a:ext cx="5155920" cy="600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12350520" y="3867120"/>
            <a:ext cx="48751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50" b="1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③</a:t>
            </a:r>
            <a:endParaRPr lang="en-US" sz="3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2350520" y="4724280"/>
            <a:ext cx="48751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31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忘記密碼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2350520" y="5477040"/>
            <a:ext cx="456480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以 </a:t>
            </a:r>
            <a:r>
              <a:rPr lang="en-US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Email </a:t>
            </a:r>
            <a:r>
              <a:rPr lang="zh-TW" sz="210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取得重設連結，重設完回到登入頁。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A-2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註冊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註冊流程（含 </a:t>
            </a:r>
            <a:r>
              <a:rPr lang="en-US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Email </a:t>
            </a: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確認信）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1047600" y="2743200"/>
            <a:ext cx="217584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295280" y="3048120"/>
            <a:ext cx="1848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295280" y="3438360"/>
            <a:ext cx="184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填註冊表單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295280" y="3952800"/>
            <a:ext cx="175680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Email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／密碼／暱稱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335736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3814560" y="2743200"/>
            <a:ext cx="217620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4062240" y="3048120"/>
            <a:ext cx="18489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4062240" y="3438360"/>
            <a:ext cx="1848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建立帳號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4062240" y="3952800"/>
            <a:ext cx="17571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密碼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hash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，狀態＝未驗證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12432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6581520" y="2743200"/>
            <a:ext cx="217620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6829200" y="3048120"/>
            <a:ext cx="18489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6829200" y="3438360"/>
            <a:ext cx="1848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寄出確認信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6829200" y="3952800"/>
            <a:ext cx="17571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一次性驗證連結，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24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小時有效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889128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9348480" y="2743200"/>
            <a:ext cx="235728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9596160" y="3048120"/>
            <a:ext cx="20480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9596160" y="3438360"/>
            <a:ext cx="204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點信中連結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9596160" y="3952800"/>
            <a:ext cx="19382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寫入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email_verified_at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183968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12296880" y="2743200"/>
            <a:ext cx="217620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12544560" y="3048120"/>
            <a:ext cx="18489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12544560" y="3438360"/>
            <a:ext cx="1848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回登入頁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12544560" y="3952800"/>
            <a:ext cx="17571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「驗證成功，請登入」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1460664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15063840" y="2743200"/>
            <a:ext cx="2176200" cy="218088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15311520" y="3048120"/>
            <a:ext cx="18489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06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15311520" y="3438360"/>
            <a:ext cx="1848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進入儀表板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15311520" y="3952800"/>
            <a:ext cx="1848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載入今日摘要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1047600" y="5343480"/>
            <a:ext cx="16192080" cy="202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2"/>
          <p:cNvSpPr/>
          <p:nvPr/>
        </p:nvSpPr>
        <p:spPr>
          <a:xfrm>
            <a:off x="1047600" y="7347240"/>
            <a:ext cx="16192080" cy="1872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3"/>
          <p:cNvSpPr/>
          <p:nvPr/>
        </p:nvSpPr>
        <p:spPr>
          <a:xfrm>
            <a:off x="1047600" y="5343480"/>
            <a:ext cx="16192080" cy="1872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1047600" y="5343480"/>
            <a:ext cx="114120" cy="202248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17221320" y="5343480"/>
            <a:ext cx="18720" cy="202248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6"/>
          <p:cNvSpPr/>
          <p:nvPr/>
        </p:nvSpPr>
        <p:spPr>
          <a:xfrm>
            <a:off x="1504800" y="5667480"/>
            <a:ext cx="16910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驗證關卡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1504800" y="6219720"/>
            <a:ext cx="1583424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未驗證帳號登入時一律擋在「請先完成 </a:t>
            </a: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Email 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驗證」頁，只能重寄確認信（每小時最多 </a:t>
            </a: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3 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封），不得進入儀表板或任何紀錄頁。驗證連結逾期可重寄，重寄後舊連結立即失效。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A-3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忘記密碼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忘記密碼與重設流程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1047600" y="2705040"/>
            <a:ext cx="3890520" cy="217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1314360" y="2990880"/>
            <a:ext cx="36928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1314360" y="3381480"/>
            <a:ext cx="36928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點「忘記密碼」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314360" y="3905280"/>
            <a:ext cx="3692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輸入註冊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Email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5148360" y="2705040"/>
            <a:ext cx="3890520" cy="217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5415120" y="2990880"/>
            <a:ext cx="36928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5415120" y="3381480"/>
            <a:ext cx="36928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產生驗證碼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5415120" y="3905280"/>
            <a:ext cx="34578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只存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hash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，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30 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分鐘有效，不動原密碼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9248760" y="2705040"/>
            <a:ext cx="3890520" cy="217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9515520" y="2990880"/>
            <a:ext cx="36928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9515520" y="3381480"/>
            <a:ext cx="36928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寄送確認信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9515520" y="3905280"/>
            <a:ext cx="3692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帳號是否存在都回相同訊息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13349160" y="2705040"/>
            <a:ext cx="3890520" cy="217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3615920" y="2990880"/>
            <a:ext cx="36928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13615920" y="3381480"/>
            <a:ext cx="36928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驗證連結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13615920" y="3905280"/>
            <a:ext cx="3692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未過期、未使用過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1047600" y="5124600"/>
            <a:ext cx="5257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1314360" y="5410080"/>
            <a:ext cx="5196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1314360" y="5800680"/>
            <a:ext cx="51966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設定新密碼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1314360" y="6324480"/>
            <a:ext cx="5196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使用者自行輸入，更新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password_hash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2"/>
          <p:cNvSpPr/>
          <p:nvPr/>
        </p:nvSpPr>
        <p:spPr>
          <a:xfrm>
            <a:off x="6515280" y="5124600"/>
            <a:ext cx="5257440" cy="1828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6781680" y="5410080"/>
            <a:ext cx="5196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06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6781680" y="5800680"/>
            <a:ext cx="51966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登出所有裝置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6781680" y="6324480"/>
            <a:ext cx="5196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失效舊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Session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6"/>
          <p:cNvSpPr/>
          <p:nvPr/>
        </p:nvSpPr>
        <p:spPr>
          <a:xfrm>
            <a:off x="11982600" y="5124600"/>
            <a:ext cx="5257440" cy="182844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12249000" y="5410080"/>
            <a:ext cx="51966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07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8"/>
          <p:cNvSpPr/>
          <p:nvPr/>
        </p:nvSpPr>
        <p:spPr>
          <a:xfrm>
            <a:off x="12249000" y="5800680"/>
            <a:ext cx="51966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回到登入頁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12249000" y="6324480"/>
            <a:ext cx="5196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「密碼已更新，請重新登入」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0"/>
          <p:cNvSpPr/>
          <p:nvPr/>
        </p:nvSpPr>
        <p:spPr>
          <a:xfrm>
            <a:off x="1047600" y="7201080"/>
            <a:ext cx="16192080" cy="916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1371600" y="7467480"/>
            <a:ext cx="1603008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信中寄的是</a:t>
            </a:r>
            <a:r>
              <a:rPr lang="zh-TW" sz="1950" b="1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重設連結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，不是新密碼。連結裡的驗證碼只用來確認「這個人收得到這個 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Email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」，使用者不需知道它；新密碼由使用者自己決定。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1333440" y="3519360"/>
            <a:ext cx="1718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pc="451" strike="noStrike">
                <a:solidFill>
                  <a:srgbClr val="418ad1"/>
                </a:solidFill>
                <a:effectLst/>
                <a:uFillTx/>
                <a:latin typeface="IBM Plex Mono"/>
                <a:ea typeface="IBM Plex Mono"/>
              </a:rPr>
              <a:t>流程 </a:t>
            </a:r>
            <a:r>
              <a:rPr lang="en-US" sz="2250" b="0" u="none" spc="451" strike="noStrike">
                <a:solidFill>
                  <a:srgbClr val="418ad1"/>
                </a:solidFill>
                <a:effectLst/>
                <a:uFillTx/>
                <a:latin typeface="IBM Plex Mono"/>
                <a:ea typeface="IBM Plex Mono"/>
              </a:rPr>
              <a:t>B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1333440" y="4205160"/>
            <a:ext cx="1718280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7200" b="1" u="none" spc="-215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考題作答與弱項分析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1333440" y="5834160"/>
            <a:ext cx="666432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0" u="none" strike="noStrike">
                <a:solidFill>
                  <a:srgbClr val="cfc8bb"/>
                </a:solidFill>
                <a:effectLst/>
                <a:uFillTx/>
                <a:latin typeface="Noto Sans TC"/>
                <a:ea typeface="Noto Sans TC"/>
              </a:rPr>
              <a:t>上傳考試資料、產生重點摘要、自動排讀書計畫，作答後算出弱項。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B-1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前置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上傳考試資料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1047600" y="2743200"/>
            <a:ext cx="276552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1295280" y="304812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295280" y="343836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選擇檔案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295280" y="3952800"/>
            <a:ext cx="2346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Excel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／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CSV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題庫，或考卷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PDF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／圖片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394704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4404240" y="2743200"/>
            <a:ext cx="276588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4651920" y="304812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4651920" y="34383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指定科目／章節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4651920" y="3952800"/>
            <a:ext cx="24976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選既有章節或新建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730368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7760880" y="2743200"/>
            <a:ext cx="276552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8008560" y="304812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8008560" y="343836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後端解析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8008560" y="3952800"/>
            <a:ext cx="2346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切出題目／選項／答案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1066032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11117520" y="2743200"/>
            <a:ext cx="276588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11365200" y="304812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11365200" y="34383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預覽與校正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11365200" y="3952800"/>
            <a:ext cx="24976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逐題確認答案與章節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14016960" y="36003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2"/>
          <p:cNvSpPr/>
          <p:nvPr/>
        </p:nvSpPr>
        <p:spPr>
          <a:xfrm>
            <a:off x="14474160" y="2743200"/>
            <a:ext cx="2765880" cy="218088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14721840" y="304812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14721840" y="34383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匯入題庫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5"/>
          <p:cNvSpPr/>
          <p:nvPr/>
        </p:nvSpPr>
        <p:spPr>
          <a:xfrm>
            <a:off x="14721840" y="395280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questions</a:t>
            </a: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source=import</a:t>
            </a: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1047600" y="5343480"/>
            <a:ext cx="16192080" cy="2022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7"/>
          <p:cNvSpPr/>
          <p:nvPr/>
        </p:nvSpPr>
        <p:spPr>
          <a:xfrm>
            <a:off x="1047600" y="7347240"/>
            <a:ext cx="16192080" cy="1872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8"/>
          <p:cNvSpPr/>
          <p:nvPr/>
        </p:nvSpPr>
        <p:spPr>
          <a:xfrm>
            <a:off x="1047600" y="5343480"/>
            <a:ext cx="16192080" cy="1872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9"/>
          <p:cNvSpPr/>
          <p:nvPr/>
        </p:nvSpPr>
        <p:spPr>
          <a:xfrm>
            <a:off x="1047600" y="5343480"/>
            <a:ext cx="114120" cy="202248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0"/>
          <p:cNvSpPr/>
          <p:nvPr/>
        </p:nvSpPr>
        <p:spPr>
          <a:xfrm>
            <a:off x="17221320" y="5343480"/>
            <a:ext cx="18720" cy="202248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1"/>
          <p:cNvSpPr/>
          <p:nvPr/>
        </p:nvSpPr>
        <p:spPr>
          <a:xfrm>
            <a:off x="1504800" y="5667480"/>
            <a:ext cx="169102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實作範圍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2"/>
          <p:cNvSpPr/>
          <p:nvPr/>
        </p:nvSpPr>
        <p:spPr>
          <a:xfrm>
            <a:off x="1504800" y="6219720"/>
            <a:ext cx="1583424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MVP 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只做 </a:t>
            </a: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Excel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／</a:t>
            </a: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CSV 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範本匯入（格式固定、最穩）；</a:t>
            </a:r>
            <a:r>
              <a:rPr lang="en-US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PDF</a:t>
            </a:r>
            <a:r>
              <a:rPr lang="zh-TW" sz="202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／圖片辨識列為第二階段。匯入結果一律經使用者確認才入庫，避免污染正確率統計。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B-2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重點摘要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重點摘要（</a:t>
            </a:r>
            <a:r>
              <a:rPr lang="en-US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LLM </a:t>
            </a: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產生，人工確認）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依章節產出可背誦的重點卡，考前直接複習，也作為 </a:t>
            </a:r>
            <a:r>
              <a:rPr lang="en-US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RAG </a:t>
            </a: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檢索素材。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1047600" y="3276720"/>
            <a:ext cx="276552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295280" y="358128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295280" y="397188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選擇範圍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295280" y="4486320"/>
            <a:ext cx="2497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整份教材或指定章節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3947040" y="43005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4404240" y="3276720"/>
            <a:ext cx="276588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9d53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4651920" y="358128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73e00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4651920" y="397188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切塊送 </a:t>
            </a:r>
            <a:r>
              <a:rPr lang="en-US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LLM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4651920" y="44863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產出重點條列與關鍵名詞定義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7303680" y="43005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7760880" y="3276720"/>
            <a:ext cx="276552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8008560" y="358128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8008560" y="397188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合併去重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8008560" y="4486320"/>
            <a:ext cx="2346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依章節組成摘要＋重點卡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10660320" y="43005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11117520" y="3276720"/>
            <a:ext cx="276588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11365200" y="358128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11365200" y="397188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使用者編修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11365200" y="44863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改寫、刪除、標記「已熟」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14016960" y="430056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3"/>
          <p:cNvSpPr/>
          <p:nvPr/>
        </p:nvSpPr>
        <p:spPr>
          <a:xfrm>
            <a:off x="14474160" y="3276720"/>
            <a:ext cx="2765880" cy="251424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14721840" y="358128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14721840" y="397188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弱項優先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14721840" y="4486320"/>
            <a:ext cx="234684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正確率低的章節置頂，可一鍵依摘要出題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7"/>
          <p:cNvSpPr/>
          <p:nvPr/>
        </p:nvSpPr>
        <p:spPr>
          <a:xfrm>
            <a:off x="1047600" y="6172200"/>
            <a:ext cx="16192080" cy="151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1409760" y="6477120"/>
            <a:ext cx="17015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資料表 </a:t>
            </a:r>
            <a:r>
              <a:rPr lang="en-US" sz="21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summaries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9"/>
          <p:cNvSpPr/>
          <p:nvPr/>
        </p:nvSpPr>
        <p:spPr>
          <a:xfrm>
            <a:off x="1409760" y="6972480"/>
            <a:ext cx="1593216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summary_type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（整章摘要／重點卡）、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content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source_chunk_ids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（可追溯、防幻覺）、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is_edited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mastery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（未讀／複習中／已熟）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B-3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自動排程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依可讀時間自動安排讀書計畫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使用者給考試日期與每天可讀時間，系統把章節排進月曆。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104760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127620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考試日期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127620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決定總可用天數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513864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536724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每天可讀時間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536724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分平日／週末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922968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0"/>
          <p:cNvSpPr/>
          <p:nvPr/>
        </p:nvSpPr>
        <p:spPr>
          <a:xfrm>
            <a:off x="945828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排除日期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945828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打工、有事不排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1332072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1354932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考試範圍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1354932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勾選章節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1047600" y="4848120"/>
            <a:ext cx="276552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1295280" y="5133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1295280" y="5524560"/>
            <a:ext cx="2497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算可用時數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1295280" y="6019920"/>
            <a:ext cx="2497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Σ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各可讀日的分鐘數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394704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4404240" y="4848120"/>
            <a:ext cx="276588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465192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1f6cb0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465192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章節加權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4651920" y="60199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正確率低、題數多、難度高 → 給更多時間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730368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7760880" y="4848120"/>
            <a:ext cx="276552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8008560" y="5133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8008560" y="5524560"/>
            <a:ext cx="2497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切成每日任務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8008560" y="6019920"/>
            <a:ext cx="2497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先讀摘要、再做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N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1066032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0"/>
          <p:cNvSpPr/>
          <p:nvPr/>
        </p:nvSpPr>
        <p:spPr>
          <a:xfrm>
            <a:off x="11117520" y="4848120"/>
            <a:ext cx="276588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1136520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1136520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預留複習日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11365200" y="60199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考前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2–3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天錯題總複習與模擬考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1401696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5"/>
          <p:cNvSpPr/>
          <p:nvPr/>
        </p:nvSpPr>
        <p:spPr>
          <a:xfrm>
            <a:off x="14474160" y="4848120"/>
            <a:ext cx="2765880" cy="245700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1472184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7"/>
          <p:cNvSpPr/>
          <p:nvPr/>
        </p:nvSpPr>
        <p:spPr>
          <a:xfrm>
            <a:off x="1472184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寫入月曆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14721840" y="6019920"/>
            <a:ext cx="234684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study_plans</a:t>
            </a: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source=auto</a:t>
            </a: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），可拖動調整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9"/>
          <p:cNvSpPr/>
          <p:nvPr/>
        </p:nvSpPr>
        <p:spPr>
          <a:xfrm>
            <a:off x="1047600" y="7591320"/>
            <a:ext cx="17811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資料表：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exam_plans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（考試日期、平日／週末分鐘、排除日期、章節範圍、複習天數）→ 批次產生 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study_plans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B-4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作答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作答與弱項分析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"/>
          <p:cNvSpPr/>
          <p:nvPr/>
        </p:nvSpPr>
        <p:spPr>
          <a:xfrm>
            <a:off x="1047600" y="2705040"/>
            <a:ext cx="276552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"/>
          <p:cNvSpPr/>
          <p:nvPr/>
        </p:nvSpPr>
        <p:spPr>
          <a:xfrm>
            <a:off x="1295280" y="3009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"/>
          <p:cNvSpPr/>
          <p:nvPr/>
        </p:nvSpPr>
        <p:spPr>
          <a:xfrm>
            <a:off x="1295280" y="340056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選科目／章節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1295280" y="3914640"/>
            <a:ext cx="2497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設定題數與範圍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"/>
          <p:cNvSpPr/>
          <p:nvPr/>
        </p:nvSpPr>
        <p:spPr>
          <a:xfrm>
            <a:off x="3947040" y="356220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7"/>
          <p:cNvSpPr/>
          <p:nvPr/>
        </p:nvSpPr>
        <p:spPr>
          <a:xfrm>
            <a:off x="4404240" y="2705040"/>
            <a:ext cx="276588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8"/>
          <p:cNvSpPr/>
          <p:nvPr/>
        </p:nvSpPr>
        <p:spPr>
          <a:xfrm>
            <a:off x="4651920" y="3009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4651920" y="34005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建立測驗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0"/>
          <p:cNvSpPr/>
          <p:nvPr/>
        </p:nvSpPr>
        <p:spPr>
          <a:xfrm>
            <a:off x="4651920" y="391464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後端抽題，可加權錯題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7303680" y="356220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7760880" y="2705040"/>
            <a:ext cx="276552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8008560" y="3009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8008560" y="3400560"/>
            <a:ext cx="24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逐題作答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8008560" y="3914640"/>
            <a:ext cx="24973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記錄選項與作答秒數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10660320" y="356220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11117520" y="2705040"/>
            <a:ext cx="2765880" cy="2180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8"/>
          <p:cNvSpPr/>
          <p:nvPr/>
        </p:nvSpPr>
        <p:spPr>
          <a:xfrm>
            <a:off x="11365200" y="3009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9"/>
          <p:cNvSpPr/>
          <p:nvPr/>
        </p:nvSpPr>
        <p:spPr>
          <a:xfrm>
            <a:off x="11365200" y="34005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交卷批改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0"/>
          <p:cNvSpPr/>
          <p:nvPr/>
        </p:nvSpPr>
        <p:spPr>
          <a:xfrm>
            <a:off x="11365200" y="3914640"/>
            <a:ext cx="24976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算分，答錯進錯題簿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1"/>
          <p:cNvSpPr/>
          <p:nvPr/>
        </p:nvSpPr>
        <p:spPr>
          <a:xfrm>
            <a:off x="14016960" y="356220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2"/>
          <p:cNvSpPr/>
          <p:nvPr/>
        </p:nvSpPr>
        <p:spPr>
          <a:xfrm>
            <a:off x="14474160" y="2705040"/>
            <a:ext cx="2765880" cy="218088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3"/>
          <p:cNvSpPr/>
          <p:nvPr/>
        </p:nvSpPr>
        <p:spPr>
          <a:xfrm>
            <a:off x="14721840" y="3009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4"/>
          <p:cNvSpPr/>
          <p:nvPr/>
        </p:nvSpPr>
        <p:spPr>
          <a:xfrm>
            <a:off x="14721840" y="3400560"/>
            <a:ext cx="2497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章節正確率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14721840" y="3914640"/>
            <a:ext cx="24976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更新弱項排序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9"/>
          <p:cNvSpPr/>
          <p:nvPr/>
        </p:nvSpPr>
        <p:spPr>
          <a:xfrm>
            <a:off x="9277200" y="5267160"/>
            <a:ext cx="7962480" cy="2339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9601200" y="5572080"/>
            <a:ext cx="8046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分析口徑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1"/>
          <p:cNvSpPr/>
          <p:nvPr/>
        </p:nvSpPr>
        <p:spPr>
          <a:xfrm>
            <a:off x="9601200" y="6086520"/>
            <a:ext cx="75344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4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章節正確率 ＝ 該章節答對數 </a:t>
            </a:r>
            <a:r>
              <a:rPr lang="en-US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÷ </a:t>
            </a: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作答數；弱項取最近 </a:t>
            </a:r>
            <a:r>
              <a:rPr lang="en-US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20 </a:t>
            </a: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題避免舊資料稀釋，並回傳給 </a:t>
            </a:r>
            <a:r>
              <a:rPr lang="en-US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LLM </a:t>
            </a: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作為回答依據。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1333440" y="3519360"/>
            <a:ext cx="1718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pc="451" strike="noStrike">
                <a:solidFill>
                  <a:srgbClr val="4e9a52"/>
                </a:solidFill>
                <a:effectLst/>
                <a:uFillTx/>
                <a:latin typeface="IBM Plex Mono"/>
                <a:ea typeface="IBM Plex Mono"/>
              </a:rPr>
              <a:t>流程 </a:t>
            </a:r>
            <a:r>
              <a:rPr lang="en-US" sz="2250" b="0" u="none" spc="451" strike="noStrike">
                <a:solidFill>
                  <a:srgbClr val="4e9a52"/>
                </a:solidFill>
                <a:effectLst/>
                <a:uFillTx/>
                <a:latin typeface="IBM Plex Mono"/>
                <a:ea typeface="IBM Plex Mono"/>
              </a:rPr>
              <a:t>D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1333440" y="4205160"/>
            <a:ext cx="1718280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7200" b="1" u="none" spc="-215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運動紀錄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1333440" y="5834160"/>
            <a:ext cx="666432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0" u="none" strike="noStrike">
                <a:solidFill>
                  <a:srgbClr val="cfc8bb"/>
                </a:solidFill>
                <a:effectLst/>
                <a:uFillTx/>
                <a:latin typeface="Noto Sans TC"/>
                <a:ea typeface="Noto Sans TC"/>
              </a:rPr>
              <a:t>初始設定建立基準，自動排課表，每次訓練記錄動作與時間。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D-1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初始設定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第一次進入運動模組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五項必填，之後可在設定頁修改。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1047600" y="3314880"/>
            <a:ext cx="3085920" cy="153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1295280" y="3638520"/>
            <a:ext cx="2849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身高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1295280" y="419112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cm → user_profiles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4324320" y="3314880"/>
            <a:ext cx="3085920" cy="153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4572000" y="3638520"/>
            <a:ext cx="2849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體重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4572000" y="419112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kg → body_metrics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首筆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7601040" y="3314880"/>
            <a:ext cx="3085920" cy="153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7848720" y="3638520"/>
            <a:ext cx="2849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年齡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7848720" y="419112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由生日自動換算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2"/>
          <p:cNvSpPr/>
          <p:nvPr/>
        </p:nvSpPr>
        <p:spPr>
          <a:xfrm>
            <a:off x="10877400" y="3314880"/>
            <a:ext cx="3085920" cy="153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11125080" y="3638520"/>
            <a:ext cx="2849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運動目標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4"/>
          <p:cNvSpPr/>
          <p:nvPr/>
        </p:nvSpPr>
        <p:spPr>
          <a:xfrm>
            <a:off x="11125080" y="419112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減脂／增肌／維持／體能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14154120" y="3314880"/>
            <a:ext cx="3085920" cy="153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14401800" y="3638520"/>
            <a:ext cx="2849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4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一週可運動時間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14401800" y="419112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天數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×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每次分鐘數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1047600" y="5229360"/>
            <a:ext cx="16192080" cy="1954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1409760" y="5553000"/>
            <a:ext cx="1701504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用途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0"/>
          <p:cNvSpPr/>
          <p:nvPr/>
        </p:nvSpPr>
        <p:spPr>
          <a:xfrm>
            <a:off x="1409760" y="6048360"/>
            <a:ext cx="1593216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估算 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TDEE 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與每日熱量／蛋白質目標、產生預設訓練頻率建議，並成為 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LLM 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回答「我這週運動量夠嗎」的比較基準。欄位： 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workout_days_per_week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minutes_per_session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goal_type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onboarded_at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D-2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自動排程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依可運動時間自動安排課表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排出一週課表並自動填入動作、組數與建議重量。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"/>
          <p:cNvSpPr/>
          <p:nvPr/>
        </p:nvSpPr>
        <p:spPr>
          <a:xfrm>
            <a:off x="104760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127620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可運動日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127620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勾選星期幾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"/>
          <p:cNvSpPr/>
          <p:nvPr/>
        </p:nvSpPr>
        <p:spPr>
          <a:xfrm>
            <a:off x="513864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7"/>
          <p:cNvSpPr/>
          <p:nvPr/>
        </p:nvSpPr>
        <p:spPr>
          <a:xfrm>
            <a:off x="536724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每次時長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536724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決定動作數量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9"/>
          <p:cNvSpPr/>
          <p:nvPr/>
        </p:nvSpPr>
        <p:spPr>
          <a:xfrm>
            <a:off x="922968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0"/>
          <p:cNvSpPr/>
          <p:nvPr/>
        </p:nvSpPr>
        <p:spPr>
          <a:xfrm>
            <a:off x="945828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運動目標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945828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減脂／增肌／維持／體能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2"/>
          <p:cNvSpPr/>
          <p:nvPr/>
        </p:nvSpPr>
        <p:spPr>
          <a:xfrm>
            <a:off x="13320720" y="3200400"/>
            <a:ext cx="3919320" cy="1323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3"/>
          <p:cNvSpPr/>
          <p:nvPr/>
        </p:nvSpPr>
        <p:spPr>
          <a:xfrm>
            <a:off x="13549320" y="3448080"/>
            <a:ext cx="3808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可用器材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4"/>
          <p:cNvSpPr/>
          <p:nvPr/>
        </p:nvSpPr>
        <p:spPr>
          <a:xfrm>
            <a:off x="13549320" y="3943440"/>
            <a:ext cx="38080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健身房／啞鈴／徒手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5"/>
          <p:cNvSpPr/>
          <p:nvPr/>
        </p:nvSpPr>
        <p:spPr>
          <a:xfrm>
            <a:off x="1047600" y="4848120"/>
            <a:ext cx="276552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1295280" y="5133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45e17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7"/>
          <p:cNvSpPr/>
          <p:nvPr/>
        </p:nvSpPr>
        <p:spPr>
          <a:xfrm>
            <a:off x="1295280" y="5524560"/>
            <a:ext cx="2497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選課表樣板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8"/>
          <p:cNvSpPr/>
          <p:nvPr/>
        </p:nvSpPr>
        <p:spPr>
          <a:xfrm>
            <a:off x="1295280" y="6019920"/>
            <a:ext cx="23464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2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天全身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×2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／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3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天推拉腿／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4–5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天上下肢分化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9"/>
          <p:cNvSpPr/>
          <p:nvPr/>
        </p:nvSpPr>
        <p:spPr>
          <a:xfrm>
            <a:off x="394704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0"/>
          <p:cNvSpPr/>
          <p:nvPr/>
        </p:nvSpPr>
        <p:spPr>
          <a:xfrm>
            <a:off x="4404240" y="4848120"/>
            <a:ext cx="276588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1"/>
          <p:cNvSpPr/>
          <p:nvPr/>
        </p:nvSpPr>
        <p:spPr>
          <a:xfrm>
            <a:off x="465192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2"/>
          <p:cNvSpPr/>
          <p:nvPr/>
        </p:nvSpPr>
        <p:spPr>
          <a:xfrm>
            <a:off x="465192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挑動作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3"/>
          <p:cNvSpPr/>
          <p:nvPr/>
        </p:nvSpPr>
        <p:spPr>
          <a:xfrm>
            <a:off x="4651920" y="60199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依部位篩器材可用者，複合動作優先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4"/>
          <p:cNvSpPr/>
          <p:nvPr/>
        </p:nvSpPr>
        <p:spPr>
          <a:xfrm>
            <a:off x="730368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5"/>
          <p:cNvSpPr/>
          <p:nvPr/>
        </p:nvSpPr>
        <p:spPr>
          <a:xfrm>
            <a:off x="7760880" y="4848120"/>
            <a:ext cx="276552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6"/>
          <p:cNvSpPr/>
          <p:nvPr/>
        </p:nvSpPr>
        <p:spPr>
          <a:xfrm>
            <a:off x="8008560" y="5133960"/>
            <a:ext cx="2497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7"/>
          <p:cNvSpPr/>
          <p:nvPr/>
        </p:nvSpPr>
        <p:spPr>
          <a:xfrm>
            <a:off x="8008560" y="5524560"/>
            <a:ext cx="2497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配組數次數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8"/>
          <p:cNvSpPr/>
          <p:nvPr/>
        </p:nvSpPr>
        <p:spPr>
          <a:xfrm>
            <a:off x="8008560" y="6019920"/>
            <a:ext cx="23464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增肌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8–12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下、減脂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12–15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下＋有氧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9"/>
          <p:cNvSpPr/>
          <p:nvPr/>
        </p:nvSpPr>
        <p:spPr>
          <a:xfrm>
            <a:off x="1066032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0"/>
          <p:cNvSpPr/>
          <p:nvPr/>
        </p:nvSpPr>
        <p:spPr>
          <a:xfrm>
            <a:off x="11117520" y="4848120"/>
            <a:ext cx="2765880" cy="245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1"/>
          <p:cNvSpPr/>
          <p:nvPr/>
        </p:nvSpPr>
        <p:spPr>
          <a:xfrm>
            <a:off x="1136520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2"/>
          <p:cNvSpPr/>
          <p:nvPr/>
        </p:nvSpPr>
        <p:spPr>
          <a:xfrm>
            <a:off x="1136520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建議重量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3"/>
          <p:cNvSpPr/>
          <p:nvPr/>
        </p:nvSpPr>
        <p:spPr>
          <a:xfrm>
            <a:off x="11365200" y="6019920"/>
            <a:ext cx="234684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取歷史最佳組，無紀錄留空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4"/>
          <p:cNvSpPr/>
          <p:nvPr/>
        </p:nvSpPr>
        <p:spPr>
          <a:xfrm>
            <a:off x="14016960" y="584352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5"/>
          <p:cNvSpPr/>
          <p:nvPr/>
        </p:nvSpPr>
        <p:spPr>
          <a:xfrm>
            <a:off x="14474160" y="4848120"/>
            <a:ext cx="2765880" cy="245700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6"/>
          <p:cNvSpPr/>
          <p:nvPr/>
        </p:nvSpPr>
        <p:spPr>
          <a:xfrm>
            <a:off x="14721840" y="5133960"/>
            <a:ext cx="2497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7"/>
          <p:cNvSpPr/>
          <p:nvPr/>
        </p:nvSpPr>
        <p:spPr>
          <a:xfrm>
            <a:off x="14721840" y="5524560"/>
            <a:ext cx="24976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寫入月曆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8"/>
          <p:cNvSpPr/>
          <p:nvPr/>
        </p:nvSpPr>
        <p:spPr>
          <a:xfrm>
            <a:off x="14721840" y="6019920"/>
            <a:ext cx="249768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可換動作或拖動改日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39"/>
          <p:cNvSpPr/>
          <p:nvPr/>
        </p:nvSpPr>
        <p:spPr>
          <a:xfrm>
            <a:off x="1047600" y="7591320"/>
            <a:ext cx="166780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資料表：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workout_templates / template_items 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（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split_type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day_index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exercise_id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target_sets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target_reps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suggested_weight_kg</a:t>
            </a:r>
            <a:r>
              <a:rPr lang="zh-TW" sz="195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）；開始訓練時可一鍵「套用今日計畫」。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D-3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每次訓練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訓練紀錄流程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"/>
          <p:cNvSpPr/>
          <p:nvPr/>
        </p:nvSpPr>
        <p:spPr>
          <a:xfrm>
            <a:off x="1047600" y="2705040"/>
            <a:ext cx="263700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"/>
          <p:cNvSpPr/>
          <p:nvPr/>
        </p:nvSpPr>
        <p:spPr>
          <a:xfrm>
            <a:off x="1295280" y="3009960"/>
            <a:ext cx="23562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4"/>
          <p:cNvSpPr/>
          <p:nvPr/>
        </p:nvSpPr>
        <p:spPr>
          <a:xfrm>
            <a:off x="1295280" y="3400560"/>
            <a:ext cx="235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開始訓練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1295280" y="3914640"/>
            <a:ext cx="2217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建立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workout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，記日期與開始時間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3818520" y="37288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7"/>
          <p:cNvSpPr/>
          <p:nvPr/>
        </p:nvSpPr>
        <p:spPr>
          <a:xfrm>
            <a:off x="4275720" y="2705040"/>
            <a:ext cx="327996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4523400" y="3009960"/>
            <a:ext cx="30628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045e17"/>
                </a:solidFill>
                <a:effectLst/>
                <a:uFillTx/>
                <a:latin typeface="IBM Plex Mono"/>
                <a:ea typeface="IBM Plex Mono"/>
              </a:rPr>
              <a:t>02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4523400" y="34005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加入動作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0"/>
          <p:cNvSpPr/>
          <p:nvPr/>
        </p:nvSpPr>
        <p:spPr>
          <a:xfrm>
            <a:off x="4523400" y="3914640"/>
            <a:ext cx="286812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A.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搜尋內建動作庫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B.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自建動作（名稱＋部位＋器材）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1"/>
          <p:cNvSpPr/>
          <p:nvPr/>
        </p:nvSpPr>
        <p:spPr>
          <a:xfrm>
            <a:off x="7689240" y="37288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2"/>
          <p:cNvSpPr/>
          <p:nvPr/>
        </p:nvSpPr>
        <p:spPr>
          <a:xfrm>
            <a:off x="8146440" y="2705040"/>
            <a:ext cx="263700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3"/>
          <p:cNvSpPr/>
          <p:nvPr/>
        </p:nvSpPr>
        <p:spPr>
          <a:xfrm>
            <a:off x="8394120" y="3009960"/>
            <a:ext cx="23562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03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8394120" y="3400560"/>
            <a:ext cx="235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逐組輸入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5"/>
          <p:cNvSpPr/>
          <p:nvPr/>
        </p:nvSpPr>
        <p:spPr>
          <a:xfrm>
            <a:off x="8394120" y="3914640"/>
            <a:ext cx="221796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重量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×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次數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×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組數；有氧記時間／距離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10917360" y="37288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7"/>
          <p:cNvSpPr/>
          <p:nvPr/>
        </p:nvSpPr>
        <p:spPr>
          <a:xfrm>
            <a:off x="11374560" y="2705040"/>
            <a:ext cx="2637000" cy="2514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8"/>
          <p:cNvSpPr/>
          <p:nvPr/>
        </p:nvSpPr>
        <p:spPr>
          <a:xfrm>
            <a:off x="11622240" y="3009960"/>
            <a:ext cx="23562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04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11622240" y="3400560"/>
            <a:ext cx="235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結束計算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0"/>
          <p:cNvSpPr/>
          <p:nvPr/>
        </p:nvSpPr>
        <p:spPr>
          <a:xfrm>
            <a:off x="11622240" y="3914640"/>
            <a:ext cx="2217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訓練時長與總訓練量 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Σ 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重量</a:t>
            </a:r>
            <a:r>
              <a:rPr lang="en-US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×</a:t>
            </a: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次數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1"/>
          <p:cNvSpPr/>
          <p:nvPr/>
        </p:nvSpPr>
        <p:spPr>
          <a:xfrm>
            <a:off x="14145480" y="37288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2"/>
          <p:cNvSpPr/>
          <p:nvPr/>
        </p:nvSpPr>
        <p:spPr>
          <a:xfrm>
            <a:off x="14602680" y="2705040"/>
            <a:ext cx="2637000" cy="251424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3"/>
          <p:cNvSpPr/>
          <p:nvPr/>
        </p:nvSpPr>
        <p:spPr>
          <a:xfrm>
            <a:off x="14850360" y="3009960"/>
            <a:ext cx="23562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0" u="none" strike="noStrike">
                <a:solidFill>
                  <a:srgbClr val="b9b2a6"/>
                </a:solidFill>
                <a:effectLst/>
                <a:uFillTx/>
                <a:latin typeface="IBM Plex Mono"/>
                <a:ea typeface="IBM Plex Mono"/>
              </a:rPr>
              <a:t>05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4"/>
          <p:cNvSpPr/>
          <p:nvPr/>
        </p:nvSpPr>
        <p:spPr>
          <a:xfrm>
            <a:off x="14850360" y="3400560"/>
            <a:ext cx="235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部位統計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5"/>
          <p:cNvSpPr/>
          <p:nvPr/>
        </p:nvSpPr>
        <p:spPr>
          <a:xfrm>
            <a:off x="14850360" y="3914640"/>
            <a:ext cx="22179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週／月訓練量與時數趨勢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6"/>
          <p:cNvSpPr/>
          <p:nvPr/>
        </p:nvSpPr>
        <p:spPr>
          <a:xfrm>
            <a:off x="1047600" y="5600880"/>
            <a:ext cx="7962480" cy="1934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7"/>
          <p:cNvSpPr/>
          <p:nvPr/>
        </p:nvSpPr>
        <p:spPr>
          <a:xfrm>
            <a:off x="1371600" y="5905440"/>
            <a:ext cx="80463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0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動作來源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8"/>
          <p:cNvSpPr/>
          <p:nvPr/>
        </p:nvSpPr>
        <p:spPr>
          <a:xfrm>
            <a:off x="1371600" y="6419880"/>
            <a:ext cx="7534440" cy="8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4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內建動作 </a:t>
            </a:r>
            <a:r>
              <a:rPr lang="en-US" sz="187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created_by = NULL </a:t>
            </a: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，全體共用；自建動作帶該使用者 </a:t>
            </a:r>
            <a:r>
              <a:rPr lang="en-US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id</a:t>
            </a:r>
            <a:r>
              <a:rPr lang="zh-TW" sz="1870" b="0" u="none" strike="noStrike">
                <a:solidFill>
                  <a:srgbClr val="44403a"/>
                </a:solidFill>
                <a:effectLst/>
                <a:uFillTx/>
                <a:latin typeface="Noto Sans TC"/>
                <a:ea typeface="Noto Sans TC"/>
              </a:rPr>
              <a:t>，只有自己看得到。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 0"/>
          <p:cNvSpPr/>
          <p:nvPr/>
        </p:nvSpPr>
        <p:spPr>
          <a:xfrm>
            <a:off x="1333440" y="3519360"/>
            <a:ext cx="1718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pc="451" strike="noStrike">
                <a:solidFill>
                  <a:srgbClr val="be7125"/>
                </a:solidFill>
                <a:effectLst/>
                <a:uFillTx/>
                <a:latin typeface="IBM Plex Mono"/>
                <a:ea typeface="IBM Plex Mono"/>
              </a:rPr>
              <a:t>流程 </a:t>
            </a:r>
            <a:r>
              <a:rPr lang="en-US" sz="2250" b="0" u="none" spc="451" strike="noStrike">
                <a:solidFill>
                  <a:srgbClr val="be7125"/>
                </a:solidFill>
                <a:effectLst/>
                <a:uFillTx/>
                <a:latin typeface="IBM Plex Mono"/>
                <a:ea typeface="IBM Plex Mono"/>
              </a:rPr>
              <a:t>E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"/>
          <p:cNvSpPr/>
          <p:nvPr/>
        </p:nvSpPr>
        <p:spPr>
          <a:xfrm>
            <a:off x="1333440" y="4205160"/>
            <a:ext cx="1718280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7200" b="1" u="none" spc="-215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個人儀表板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"/>
          <p:cNvSpPr/>
          <p:nvPr/>
        </p:nvSpPr>
        <p:spPr>
          <a:xfrm>
            <a:off x="1333440" y="5834160"/>
            <a:ext cx="666432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0" u="none" strike="noStrike">
                <a:solidFill>
                  <a:srgbClr val="cfc8bb"/>
                </a:solidFill>
                <a:effectLst/>
                <a:uFillTx/>
                <a:latin typeface="Noto Sans TC"/>
                <a:ea typeface="Noto Sans TC"/>
              </a:rPr>
              <a:t>五格摘要加一個月曆，一次看到學習與運動的全貌。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E-1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摘要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一次讀取五組聚合資料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全部以「今日 </a:t>
            </a:r>
            <a:r>
              <a:rPr lang="en-US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/ </a:t>
            </a: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本週」為單位。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1047600" y="3314880"/>
            <a:ext cx="3085920" cy="197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1314360" y="3657600"/>
            <a:ext cx="28076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學習進度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314360" y="4257720"/>
            <a:ext cx="262908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已作答題數／章節覆蓋率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6"/>
          <p:cNvSpPr/>
          <p:nvPr/>
        </p:nvSpPr>
        <p:spPr>
          <a:xfrm>
            <a:off x="4324320" y="3314880"/>
            <a:ext cx="3085920" cy="197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4591080" y="3657600"/>
            <a:ext cx="28076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考試正確率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4591080" y="4257720"/>
            <a:ext cx="2807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近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7 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日／全期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7601040" y="3314880"/>
            <a:ext cx="3085920" cy="197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7867800" y="3657600"/>
            <a:ext cx="28076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最弱章節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7867800" y="4257720"/>
            <a:ext cx="2807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正確率排序前三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2"/>
          <p:cNvSpPr/>
          <p:nvPr/>
        </p:nvSpPr>
        <p:spPr>
          <a:xfrm>
            <a:off x="10877400" y="3314880"/>
            <a:ext cx="3085920" cy="197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11144160" y="3657600"/>
            <a:ext cx="28076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運動紀錄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11144160" y="4257720"/>
            <a:ext cx="2807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本週訓練量與部位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5"/>
          <p:cNvSpPr/>
          <p:nvPr/>
        </p:nvSpPr>
        <p:spPr>
          <a:xfrm>
            <a:off x="14154120" y="3314880"/>
            <a:ext cx="3085920" cy="1971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14420880" y="3657600"/>
            <a:ext cx="280764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55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體重變化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14420880" y="4257720"/>
            <a:ext cx="2807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近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30 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日折線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1047600" y="5667480"/>
            <a:ext cx="16192080" cy="142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1409760" y="5972040"/>
            <a:ext cx="15954120" cy="8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效能設計：每日結算寫入 </a:t>
            </a:r>
            <a:r>
              <a:rPr lang="en-US" sz="1950" b="0" u="none" strike="noStrike">
                <a:solidFill>
                  <a:srgbClr val="44403a"/>
                </a:solidFill>
                <a:effectLst/>
                <a:uFillTx/>
                <a:latin typeface="IBM Plex Mono"/>
                <a:ea typeface="IBM Plex Mono"/>
              </a:rPr>
              <a:t>daily_summary 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（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total_kcal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workout_volume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trained_groups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answered_count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、</a:t>
            </a:r>
            <a:r>
              <a:rPr lang="en-US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accuracy</a:t>
            </a:r>
            <a:r>
              <a:rPr lang="zh-TW" sz="1950" b="0" u="none" strike="noStrike">
                <a:solidFill>
                  <a:srgbClr val="44403a"/>
                </a:solidFill>
                <a:effectLst/>
                <a:highlight>
                  <a:srgbClr val="ffffff"/>
                </a:highlight>
                <a:uFillTx/>
                <a:latin typeface="Noto Sans TC"/>
                <a:ea typeface="Noto Sans TC"/>
              </a:rPr>
              <a:t>），儀表板直接讀快取表。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1047600" y="857160"/>
            <a:ext cx="178113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E-2 </a:t>
            </a:r>
            <a:r>
              <a:rPr lang="zh-TW" sz="1800" b="0" u="none" spc="289" strike="noStrike">
                <a:solidFill>
                  <a:srgbClr val="8a8378"/>
                </a:solidFill>
                <a:effectLst/>
                <a:uFillTx/>
                <a:latin typeface="IBM Plex Mono"/>
                <a:ea typeface="IBM Plex Mono"/>
              </a:rPr>
              <a:t>／ 月曆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1047600" y="1343160"/>
            <a:ext cx="17811360" cy="98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月曆：學習計畫 </a:t>
            </a:r>
            <a:r>
              <a:rPr lang="en-US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× </a:t>
            </a:r>
            <a:r>
              <a:rPr lang="zh-TW" sz="5100" b="1" u="none" spc="-102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運動紀錄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1047600" y="2438280"/>
            <a:ext cx="1781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25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每格顯示當天三種標記；點格子展開明細，可新增計畫或補登紀錄。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1047600" y="3200400"/>
            <a:ext cx="5270040" cy="1780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1314360" y="3486240"/>
            <a:ext cx="52102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學習計畫（預定）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1314360" y="4010040"/>
            <a:ext cx="48787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「週三複習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JOIN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」「週日模擬考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30 </a:t>
            </a: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題」→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study_plans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6508800" y="3200400"/>
            <a:ext cx="5270040" cy="1780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c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6775560" y="3486240"/>
            <a:ext cx="52102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學習完成（實際）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6775560" y="4010040"/>
            <a:ext cx="5210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當日測驗場次與正確率 →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quiz_sessions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11969640" y="3200400"/>
            <a:ext cx="5270040" cy="1780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c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12236400" y="3486240"/>
            <a:ext cx="52102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32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運動紀錄（實際）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12236400" y="4010040"/>
            <a:ext cx="5210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訓練部位＋時長＋總訓練量 → </a:t>
            </a:r>
            <a:r>
              <a:rPr lang="en-US" sz="187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workouts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2"/>
          <p:cNvSpPr/>
          <p:nvPr/>
        </p:nvSpPr>
        <p:spPr>
          <a:xfrm>
            <a:off x="1047600" y="5329080"/>
            <a:ext cx="228240" cy="228240"/>
          </a:xfrm>
          <a:prstGeom prst="rect">
            <a:avLst/>
          </a:prstGeom>
          <a:solidFill>
            <a:srgbClr val="1f6c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1390680" y="5267160"/>
            <a:ext cx="1314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學習已完成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2952720" y="5300640"/>
            <a:ext cx="285480" cy="285480"/>
          </a:xfrm>
          <a:prstGeom prst="rect">
            <a:avLst/>
          </a:prstGeom>
          <a:noFill/>
          <a:ln w="28575">
            <a:solidFill>
              <a:srgbClr val="1f6cb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3353040" y="5267160"/>
            <a:ext cx="1809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學習計畫未完成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6"/>
          <p:cNvSpPr/>
          <p:nvPr/>
        </p:nvSpPr>
        <p:spPr>
          <a:xfrm>
            <a:off x="5410440" y="5329080"/>
            <a:ext cx="228240" cy="228240"/>
          </a:xfrm>
          <a:prstGeom prst="rect">
            <a:avLst/>
          </a:prstGeom>
          <a:solidFill>
            <a:srgbClr val="2e7c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"/>
          <p:cNvSpPr/>
          <p:nvPr/>
        </p:nvSpPr>
        <p:spPr>
          <a:xfrm>
            <a:off x="5753520" y="5267160"/>
            <a:ext cx="131436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有運動紀錄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7315560" y="5329080"/>
            <a:ext cx="228240" cy="228240"/>
          </a:xfrm>
          <a:prstGeom prst="rect">
            <a:avLst/>
          </a:prstGeom>
          <a:solidFill>
            <a:srgbClr val="d8d2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9"/>
          <p:cNvSpPr/>
          <p:nvPr/>
        </p:nvSpPr>
        <p:spPr>
          <a:xfrm>
            <a:off x="7658640" y="5267160"/>
            <a:ext cx="156204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950" b="0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休息／無紀錄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0"/>
          <p:cNvSpPr/>
          <p:nvPr/>
        </p:nvSpPr>
        <p:spPr>
          <a:xfrm>
            <a:off x="1047600" y="5905440"/>
            <a:ext cx="3604680" cy="136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1"/>
          <p:cNvSpPr/>
          <p:nvPr/>
        </p:nvSpPr>
        <p:spPr>
          <a:xfrm>
            <a:off x="1295280" y="6172200"/>
            <a:ext cx="3420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切換月份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2"/>
          <p:cNvSpPr/>
          <p:nvPr/>
        </p:nvSpPr>
        <p:spPr>
          <a:xfrm>
            <a:off x="1295280" y="6667560"/>
            <a:ext cx="3420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單次查詢載入該月標記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3"/>
          <p:cNvSpPr/>
          <p:nvPr/>
        </p:nvSpPr>
        <p:spPr>
          <a:xfrm>
            <a:off x="4786200" y="63532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5243400" y="5905440"/>
            <a:ext cx="3604680" cy="136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5"/>
          <p:cNvSpPr/>
          <p:nvPr/>
        </p:nvSpPr>
        <p:spPr>
          <a:xfrm>
            <a:off x="5491080" y="6172200"/>
            <a:ext cx="3420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點某一天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6"/>
          <p:cNvSpPr/>
          <p:nvPr/>
        </p:nvSpPr>
        <p:spPr>
          <a:xfrm>
            <a:off x="5491080" y="6667560"/>
            <a:ext cx="3420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右側展開當日計畫與紀錄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7"/>
          <p:cNvSpPr/>
          <p:nvPr/>
        </p:nvSpPr>
        <p:spPr>
          <a:xfrm>
            <a:off x="8982000" y="63532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8"/>
          <p:cNvSpPr/>
          <p:nvPr/>
        </p:nvSpPr>
        <p:spPr>
          <a:xfrm>
            <a:off x="9439200" y="5905440"/>
            <a:ext cx="3604680" cy="136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9"/>
          <p:cNvSpPr/>
          <p:nvPr/>
        </p:nvSpPr>
        <p:spPr>
          <a:xfrm>
            <a:off x="9686880" y="6172200"/>
            <a:ext cx="3420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1b1a17"/>
                </a:solidFill>
                <a:effectLst/>
                <a:uFillTx/>
                <a:latin typeface="Noto Sans TC"/>
                <a:ea typeface="Noto Sans TC"/>
              </a:rPr>
              <a:t>新增計畫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0"/>
          <p:cNvSpPr/>
          <p:nvPr/>
        </p:nvSpPr>
        <p:spPr>
          <a:xfrm>
            <a:off x="9686880" y="6667560"/>
            <a:ext cx="3420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55504a"/>
                </a:solidFill>
                <a:effectLst/>
                <a:uFillTx/>
                <a:latin typeface="Noto Sans TC"/>
                <a:ea typeface="Noto Sans TC"/>
              </a:rPr>
              <a:t>選章節＋目標題數＋日期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1"/>
          <p:cNvSpPr/>
          <p:nvPr/>
        </p:nvSpPr>
        <p:spPr>
          <a:xfrm>
            <a:off x="13177800" y="6353280"/>
            <a:ext cx="399600" cy="5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550" b="0" u="none" strike="noStrike">
                <a:solidFill>
                  <a:srgbClr val="8a8378"/>
                </a:solidFill>
                <a:effectLst/>
                <a:uFillTx/>
                <a:latin typeface="Noto Sans TC"/>
                <a:ea typeface="Noto Sans TC"/>
              </a:rPr>
              <a:t>→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2"/>
          <p:cNvSpPr/>
          <p:nvPr/>
        </p:nvSpPr>
        <p:spPr>
          <a:xfrm>
            <a:off x="13635000" y="5905440"/>
            <a:ext cx="3604680" cy="1361880"/>
          </a:xfrm>
          <a:prstGeom prst="rect">
            <a:avLst/>
          </a:prstGeom>
          <a:solidFill>
            <a:srgbClr val="1b1a17"/>
          </a:solidFill>
          <a:ln w="19050">
            <a:solidFill>
              <a:srgbClr val="1b1a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3"/>
          <p:cNvSpPr/>
          <p:nvPr/>
        </p:nvSpPr>
        <p:spPr>
          <a:xfrm>
            <a:off x="13882680" y="6172200"/>
            <a:ext cx="3420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2170" b="1" u="none" strike="noStrike">
                <a:solidFill>
                  <a:srgbClr val="f7f5f1"/>
                </a:solidFill>
                <a:effectLst/>
                <a:uFillTx/>
                <a:latin typeface="Noto Sans TC"/>
                <a:ea typeface="Noto Sans TC"/>
              </a:rPr>
              <a:t>達成率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4"/>
          <p:cNvSpPr/>
          <p:nvPr/>
        </p:nvSpPr>
        <p:spPr>
          <a:xfrm>
            <a:off x="13882680" y="6667560"/>
            <a:ext cx="3420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月底統計計畫 </a:t>
            </a:r>
            <a:r>
              <a:rPr lang="en-US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vs </a:t>
            </a:r>
            <a:r>
              <a:rPr lang="zh-TW" sz="1800" b="0" u="none" strike="noStrike">
                <a:solidFill>
                  <a:srgbClr val="d8d2c8"/>
                </a:solidFill>
                <a:effectLst/>
                <a:uFillTx/>
                <a:latin typeface="Noto Sans TC"/>
                <a:ea typeface="Noto Sans TC"/>
              </a:rPr>
              <a:t>實際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LibreOffice/25.8.7.3$Linux_X86_64 LibreOffice_project/580$Build-3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2026-09-15T12:08:18Z</dcterms:created>
  <dc:creator>PptxGenJS</dc:creator>
  <dc:description/>
  <dc:language>zh-TW</dc:language>
  <cp:lastModifiedBy/>
  <dcterms:modified xsi:type="dcterms:W3CDTF">2026-09-15T20:52:16Z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